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70" r:id="rId8"/>
    <p:sldId id="272" r:id="rId9"/>
    <p:sldId id="263" r:id="rId10"/>
    <p:sldId id="271" r:id="rId11"/>
    <p:sldId id="273" r:id="rId12"/>
    <p:sldId id="265" r:id="rId13"/>
    <p:sldId id="267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60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</p:spPr>
      </p:sp>
      <p:sp>
        <p:nvSpPr>
          <p:cNvPr id="4" name="Text 2"/>
          <p:cNvSpPr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E-Commerce Purchase Intention Prediction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purchase vs. no-purchase on two independent datasets, using five machine learning models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1: </a:t>
            </a: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Clickstream purchase propensity (455K sessions)    </a:t>
            </a:r>
            <a:r>
              <a:rPr lang="en-US" sz="1300" b="1" dirty="0">
                <a:solidFill>
                  <a:srgbClr val="E76F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2: </a:t>
            </a: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UCI Online Shoppers Intention (12K sessions)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52628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Models: Logistic Regression • SVM • Random Forest • Gradient Boosting • XGBoost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predict purchase from session behaviour?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classification: purchase vs. no-purchase, across two datasets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67000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problem</a:t>
            </a:r>
            <a:endParaRPr lang="en-US" sz="1700" b="1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500"/>
              </a:spcAft>
              <a:buSzPct val="100000"/>
              <a:buChar char="▪"/>
            </a:pPr>
            <a:r>
              <a:rPr lang="en-US" sz="140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Only a small share of online sessions end in a purchase (4.2% and 15.6% in our datasets)</a:t>
            </a:r>
            <a:endParaRPr lang="en-US" sz="140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500"/>
              </a:spcAft>
              <a:buSzPct val="100000"/>
              <a:buChar char="▪"/>
            </a:pPr>
            <a:r>
              <a:rPr lang="en-US" sz="140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Businesses cannot tell in real time which visitors are likely buyers, so offers and reminders are missed</a:t>
            </a:r>
            <a:endParaRPr lang="en-US" sz="140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500"/>
              </a:spcAft>
              <a:buSzPct val="100000"/>
              <a:buChar char="▪"/>
            </a:pPr>
            <a:r>
              <a:rPr lang="en-US" sz="140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Manually reviewing hundreds of thousands of sessions does not scale</a:t>
            </a:r>
            <a:endParaRPr lang="en-US" sz="140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spcAft>
                <a:spcPts val="500"/>
              </a:spcAft>
              <a:buNone/>
            </a:pPr>
            <a:endParaRPr lang="en-US" sz="1700" b="1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objective</a:t>
            </a:r>
            <a:endParaRPr lang="en-US" sz="1700" b="1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500"/>
              </a:spcAft>
              <a:buSzPct val="100000"/>
              <a:buChar char="▪"/>
            </a:pPr>
            <a:r>
              <a:rPr lang="en-US" sz="140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Predict purchase (1) vs no purchase (0) from session behaviour</a:t>
            </a:r>
            <a:endParaRPr lang="en-US" sz="140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500"/>
              </a:spcAft>
              <a:buSzPct val="100000"/>
              <a:buChar char="▪"/>
            </a:pPr>
            <a:r>
              <a:rPr lang="en-US" sz="140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Build, tune and compare 5 models (Logistic Regression, SVM, Random Forest, Gradient Boosting, XGBoost) per dataset</a:t>
            </a:r>
            <a:endParaRPr lang="en-US" sz="140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500"/>
              </a:spcAft>
              <a:buSzPct val="100000"/>
              <a:buChar char="▪"/>
            </a:pPr>
            <a:r>
              <a:rPr lang="en-US" sz="140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Judge with Precision, Recall, F1, </a:t>
            </a:r>
            <a:r>
              <a:rPr lang="en-IN" altLang="en-US" sz="140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and </a:t>
            </a:r>
            <a:r>
              <a:rPr lang="en-US" sz="140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ROC-AUC not accuracy alone</a:t>
            </a:r>
            <a:endParaRPr lang="en-US" sz="140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500"/>
              </a:spcAft>
              <a:buSzPct val="100000"/>
              <a:buChar char="▪"/>
            </a:pPr>
            <a:r>
              <a:rPr lang="en-US" sz="140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Find which behaviours signal purchase </a:t>
            </a:r>
            <a:endParaRPr lang="en-US" sz="140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06640" y="1960880"/>
            <a:ext cx="4434840" cy="2971800"/>
          </a:xfrm>
          <a:prstGeom prst="roundRect">
            <a:avLst>
              <a:gd name="adj" fmla="val 2154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209804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 of the study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35240" y="2463800"/>
            <a:ext cx="402336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▪"/>
            </a:pPr>
            <a:r>
              <a:rPr lang="en-US"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Datasets: </a:t>
            </a:r>
            <a:r>
              <a:rPr lang="en-US" sz="120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Clickstream (455K sessions) and UCI Online Shoppers (12K sessions)</a:t>
            </a:r>
            <a:endParaRPr lang="en-US" sz="120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700"/>
              </a:spcAft>
              <a:buSzPct val="100000"/>
              <a:buChar char="▪"/>
            </a:pPr>
            <a:r>
              <a:rPr lang="en-US"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Models: </a:t>
            </a:r>
            <a:r>
              <a:rPr lang="en-US" sz="120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Logistic Regression, SVM, Random Forest, Gradient Boosting, XGBoost</a:t>
            </a:r>
            <a:endParaRPr lang="en-US" sz="120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700"/>
              </a:spcAft>
              <a:buSzPct val="100000"/>
              <a:buChar char="▪"/>
            </a:pPr>
            <a:r>
              <a:rPr lang="en-US"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Metrics: </a:t>
            </a:r>
            <a:r>
              <a:rPr lang="en-US" sz="120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Accuracy, Precision, Recall, F1, ROC-AUC, PR-AUC</a:t>
            </a:r>
            <a:endParaRPr lang="en-US" sz="120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700"/>
              </a:spcAft>
              <a:buSzPct val="100000"/>
              <a:buChar char="▪"/>
            </a:pPr>
            <a:r>
              <a:rPr lang="en-US"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Split: </a:t>
            </a:r>
            <a:r>
              <a:rPr lang="en-US" sz="120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stratified 60 / 20 / 20 into train, validation and test</a:t>
            </a:r>
            <a:endParaRPr lang="en-US" sz="120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365992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108" name="Shape 108"/>
          <p:cNvSpPr/>
          <p:nvPr/>
        </p:nvSpPr>
        <p:spPr>
          <a:xfrm>
            <a:off x="7768590" y="5269795"/>
            <a:ext cx="1767840" cy="82000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 109"/>
          <p:cNvSpPr txBox="1"/>
          <p:nvPr/>
        </p:nvSpPr>
        <p:spPr>
          <a:xfrm>
            <a:off x="7768590" y="5319795"/>
            <a:ext cx="1767840" cy="4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A9D8F"/>
                </a:solidFill>
                <a:latin typeface="Calibri" panose="020F0502020204030204"/>
              </a:rPr>
              <a:t>4.2%</a:t>
            </a:r>
            <a:endParaRPr lang="en-US" sz="2200" b="1">
              <a:solidFill>
                <a:srgbClr val="2A9D8F"/>
              </a:solidFill>
              <a:latin typeface="Calibri" panose="020F0502020204030204"/>
            </a:endParaRPr>
          </a:p>
        </p:txBody>
      </p:sp>
      <p:sp>
        <p:nvSpPr>
          <p:cNvPr id="110" name="Text 110"/>
          <p:cNvSpPr txBox="1"/>
          <p:nvPr/>
        </p:nvSpPr>
        <p:spPr>
          <a:xfrm>
            <a:off x="7768590" y="5769795"/>
            <a:ext cx="1767840" cy="26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000" b="0">
                <a:solidFill>
                  <a:srgbClr val="6B7280"/>
                </a:solidFill>
                <a:latin typeface="Calibri" panose="020F0502020204030204"/>
              </a:rPr>
              <a:t>purchase rate</a:t>
            </a:r>
            <a:endParaRPr lang="en-US" sz="1000" b="0">
              <a:solidFill>
                <a:srgbClr val="6B7280"/>
              </a:solidFill>
              <a:latin typeface="Calibri" panose="020F0502020204030204"/>
            </a:endParaRPr>
          </a:p>
        </p:txBody>
      </p:sp>
      <p:sp>
        <p:nvSpPr>
          <p:cNvPr id="120" name="Shape 120"/>
          <p:cNvSpPr/>
          <p:nvPr/>
        </p:nvSpPr>
        <p:spPr>
          <a:xfrm>
            <a:off x="9661525" y="5260270"/>
            <a:ext cx="1767840" cy="82000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 121"/>
          <p:cNvSpPr txBox="1"/>
          <p:nvPr/>
        </p:nvSpPr>
        <p:spPr>
          <a:xfrm>
            <a:off x="9661525" y="5310270"/>
            <a:ext cx="1767840" cy="4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76F51"/>
                </a:solidFill>
                <a:latin typeface="Calibri" panose="020F0502020204030204"/>
              </a:rPr>
              <a:t>15.6%</a:t>
            </a:r>
            <a:endParaRPr lang="en-US" sz="2200" b="1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122" name="Text 122"/>
          <p:cNvSpPr txBox="1"/>
          <p:nvPr/>
        </p:nvSpPr>
        <p:spPr>
          <a:xfrm>
            <a:off x="9661525" y="5760270"/>
            <a:ext cx="1767840" cy="26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000" b="0">
                <a:solidFill>
                  <a:srgbClr val="6B7280"/>
                </a:solidFill>
                <a:latin typeface="Calibri" panose="020F0502020204030204"/>
              </a:rPr>
              <a:t>purchase rate</a:t>
            </a:r>
            <a:endParaRPr lang="en-US" sz="1000" b="0">
              <a:solidFill>
                <a:srgbClr val="6B728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11247120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Datasets: Clickstream vs UCI Online Shoppers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01515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balance of both datasets: purchase is the minority class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96785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365992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101" name="Text 101"/>
          <p:cNvSpPr txBox="1"/>
          <p:nvPr/>
        </p:nvSpPr>
        <p:spPr>
          <a:xfrm>
            <a:off x="457200" y="1420000"/>
            <a:ext cx="5486400" cy="3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2A9D8F"/>
                </a:solidFill>
                <a:latin typeface="Calibri" panose="020F0502020204030204"/>
              </a:rPr>
              <a:t>Dataset 1: Clickstream (target = ordered)</a:t>
            </a:r>
            <a:endParaRPr lang="en-US" sz="1600" b="1">
              <a:solidFill>
                <a:srgbClr val="2A9D8F"/>
              </a:solidFill>
              <a:latin typeface="Calibri" panose="020F0502020204030204"/>
            </a:endParaRPr>
          </a:p>
        </p:txBody>
      </p:sp>
      <p:sp>
        <p:nvSpPr>
          <p:cNvPr id="102" name="Shape 102"/>
          <p:cNvSpPr/>
          <p:nvPr/>
        </p:nvSpPr>
        <p:spPr>
          <a:xfrm>
            <a:off x="457200" y="1830000"/>
            <a:ext cx="1767840" cy="82000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 103"/>
          <p:cNvSpPr txBox="1"/>
          <p:nvPr/>
        </p:nvSpPr>
        <p:spPr>
          <a:xfrm>
            <a:off x="457200" y="1880000"/>
            <a:ext cx="1767840" cy="4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A9D8F"/>
                </a:solidFill>
                <a:latin typeface="Calibri" panose="020F0502020204030204"/>
              </a:rPr>
              <a:t>455,401</a:t>
            </a:r>
            <a:endParaRPr lang="en-US" sz="2200" b="1">
              <a:solidFill>
                <a:srgbClr val="2A9D8F"/>
              </a:solidFill>
              <a:latin typeface="Calibri" panose="020F0502020204030204"/>
            </a:endParaRPr>
          </a:p>
        </p:txBody>
      </p:sp>
      <p:sp>
        <p:nvSpPr>
          <p:cNvPr id="104" name="Text 104"/>
          <p:cNvSpPr txBox="1"/>
          <p:nvPr/>
        </p:nvSpPr>
        <p:spPr>
          <a:xfrm>
            <a:off x="457200" y="2330000"/>
            <a:ext cx="1767840" cy="26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000" b="0">
                <a:solidFill>
                  <a:srgbClr val="6B7280"/>
                </a:solidFill>
                <a:latin typeface="Calibri" panose="020F0502020204030204"/>
              </a:rPr>
              <a:t>raw sessions</a:t>
            </a:r>
            <a:endParaRPr lang="en-US" sz="1000" b="0">
              <a:solidFill>
                <a:srgbClr val="6B7280"/>
              </a:solidFill>
              <a:latin typeface="Calibri" panose="020F0502020204030204"/>
            </a:endParaRPr>
          </a:p>
        </p:txBody>
      </p:sp>
      <p:sp>
        <p:nvSpPr>
          <p:cNvPr id="105" name="Shape 105"/>
          <p:cNvSpPr/>
          <p:nvPr/>
        </p:nvSpPr>
        <p:spPr>
          <a:xfrm>
            <a:off x="2316480" y="1830000"/>
            <a:ext cx="1767840" cy="82000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 106"/>
          <p:cNvSpPr txBox="1"/>
          <p:nvPr/>
        </p:nvSpPr>
        <p:spPr>
          <a:xfrm>
            <a:off x="2316480" y="1880000"/>
            <a:ext cx="1767840" cy="4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A9D8F"/>
                </a:solidFill>
                <a:latin typeface="Calibri" panose="020F0502020204030204"/>
              </a:rPr>
              <a:t>24</a:t>
            </a:r>
            <a:endParaRPr lang="en-US" sz="2200" b="1">
              <a:solidFill>
                <a:srgbClr val="2A9D8F"/>
              </a:solidFill>
              <a:latin typeface="Calibri" panose="020F0502020204030204"/>
            </a:endParaRPr>
          </a:p>
        </p:txBody>
      </p:sp>
      <p:sp>
        <p:nvSpPr>
          <p:cNvPr id="107" name="Text 107"/>
          <p:cNvSpPr txBox="1"/>
          <p:nvPr/>
        </p:nvSpPr>
        <p:spPr>
          <a:xfrm>
            <a:off x="2316480" y="2330000"/>
            <a:ext cx="1767840" cy="26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000" b="0">
                <a:solidFill>
                  <a:srgbClr val="6B7280"/>
                </a:solidFill>
                <a:latin typeface="Calibri" panose="020F0502020204030204"/>
              </a:rPr>
              <a:t>behavioural flags</a:t>
            </a:r>
            <a:endParaRPr lang="en-US" sz="1000" b="0">
              <a:solidFill>
                <a:srgbClr val="6B7280"/>
              </a:solidFill>
              <a:latin typeface="Calibri" panose="020F0502020204030204"/>
            </a:endParaRPr>
          </a:p>
        </p:txBody>
      </p:sp>
      <p:sp>
        <p:nvSpPr>
          <p:cNvPr id="108" name="Shape 108"/>
          <p:cNvSpPr/>
          <p:nvPr/>
        </p:nvSpPr>
        <p:spPr>
          <a:xfrm>
            <a:off x="4175760" y="1830000"/>
            <a:ext cx="1767840" cy="82000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 109"/>
          <p:cNvSpPr txBox="1"/>
          <p:nvPr/>
        </p:nvSpPr>
        <p:spPr>
          <a:xfrm>
            <a:off x="4175760" y="1880000"/>
            <a:ext cx="1767840" cy="4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A9D8F"/>
                </a:solidFill>
                <a:latin typeface="Calibri" panose="020F0502020204030204"/>
              </a:rPr>
              <a:t>4.2%</a:t>
            </a:r>
            <a:endParaRPr lang="en-US" sz="2200" b="1">
              <a:solidFill>
                <a:srgbClr val="2A9D8F"/>
              </a:solidFill>
              <a:latin typeface="Calibri" panose="020F0502020204030204"/>
            </a:endParaRPr>
          </a:p>
        </p:txBody>
      </p:sp>
      <p:sp>
        <p:nvSpPr>
          <p:cNvPr id="110" name="Text 110"/>
          <p:cNvSpPr txBox="1"/>
          <p:nvPr/>
        </p:nvSpPr>
        <p:spPr>
          <a:xfrm>
            <a:off x="4175760" y="2330000"/>
            <a:ext cx="1767840" cy="26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000" b="0">
                <a:solidFill>
                  <a:srgbClr val="6B7280"/>
                </a:solidFill>
                <a:latin typeface="Calibri" panose="020F0502020204030204"/>
              </a:rPr>
              <a:t>purchase rate</a:t>
            </a:r>
            <a:endParaRPr lang="en-US" sz="1000" b="0">
              <a:solidFill>
                <a:srgbClr val="6B7280"/>
              </a:solidFill>
              <a:latin typeface="Calibri" panose="020F0502020204030204"/>
            </a:endParaRPr>
          </a:p>
        </p:txBody>
      </p:sp>
      <p:pic>
        <p:nvPicPr>
          <p:cNvPr id="111" name="Image 111" descr="Dataset 1 class bala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212" y="2800000"/>
            <a:ext cx="4150375" cy="3200000"/>
          </a:xfrm>
          <a:prstGeom prst="rect">
            <a:avLst/>
          </a:prstGeom>
        </p:spPr>
      </p:pic>
      <p:sp>
        <p:nvSpPr>
          <p:cNvPr id="112" name="Text 112"/>
          <p:cNvSpPr txBox="1"/>
          <p:nvPr/>
        </p:nvSpPr>
        <p:spPr>
          <a:xfrm>
            <a:off x="457200" y="6060000"/>
            <a:ext cx="5486400" cy="38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0">
                <a:solidFill>
                  <a:srgbClr val="222222"/>
                </a:solidFill>
                <a:latin typeface="Calibri" panose="020F0502020204030204"/>
              </a:rPr>
              <a:t>Target: ordered (1 = purchase)  •  Split: stratified 60 / 20 / 20</a:t>
            </a:r>
            <a:endParaRPr lang="en-US" sz="11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13" name="Text 113"/>
          <p:cNvSpPr txBox="1"/>
          <p:nvPr/>
        </p:nvSpPr>
        <p:spPr>
          <a:xfrm>
            <a:off x="6248400" y="1420000"/>
            <a:ext cx="5486400" cy="3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E76F51"/>
                </a:solidFill>
                <a:latin typeface="Calibri" panose="020F0502020204030204"/>
              </a:rPr>
              <a:t>Dataset 2: UCI Online Shoppers (target = Revenue)</a:t>
            </a:r>
            <a:endParaRPr lang="en-US" sz="1600" b="1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114" name="Shape 114"/>
          <p:cNvSpPr/>
          <p:nvPr/>
        </p:nvSpPr>
        <p:spPr>
          <a:xfrm>
            <a:off x="6248400" y="1830000"/>
            <a:ext cx="1767840" cy="82000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 115"/>
          <p:cNvSpPr txBox="1"/>
          <p:nvPr/>
        </p:nvSpPr>
        <p:spPr>
          <a:xfrm>
            <a:off x="6248400" y="1880000"/>
            <a:ext cx="1767840" cy="4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76F51"/>
                </a:solidFill>
                <a:latin typeface="Calibri" panose="020F0502020204030204"/>
              </a:rPr>
              <a:t>12,330</a:t>
            </a:r>
            <a:endParaRPr lang="en-US" sz="2200" b="1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116" name="Text 116"/>
          <p:cNvSpPr txBox="1"/>
          <p:nvPr/>
        </p:nvSpPr>
        <p:spPr>
          <a:xfrm>
            <a:off x="6248400" y="2330000"/>
            <a:ext cx="1767840" cy="26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000" b="0">
                <a:solidFill>
                  <a:srgbClr val="6B7280"/>
                </a:solidFill>
                <a:latin typeface="Calibri" panose="020F0502020204030204"/>
              </a:rPr>
              <a:t>raw sessions</a:t>
            </a:r>
            <a:endParaRPr lang="en-US" sz="1000" b="0">
              <a:solidFill>
                <a:srgbClr val="6B7280"/>
              </a:solidFill>
              <a:latin typeface="Calibri" panose="020F0502020204030204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8107680" y="1830000"/>
            <a:ext cx="1767840" cy="82000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 118"/>
          <p:cNvSpPr txBox="1"/>
          <p:nvPr/>
        </p:nvSpPr>
        <p:spPr>
          <a:xfrm>
            <a:off x="8107680" y="1880000"/>
            <a:ext cx="1767840" cy="4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76F51"/>
                </a:solidFill>
                <a:latin typeface="Calibri" panose="020F0502020204030204"/>
              </a:rPr>
              <a:t>18</a:t>
            </a:r>
            <a:endParaRPr lang="en-US" sz="2200" b="1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119" name="Text 119"/>
          <p:cNvSpPr txBox="1"/>
          <p:nvPr/>
        </p:nvSpPr>
        <p:spPr>
          <a:xfrm>
            <a:off x="8107680" y="2330000"/>
            <a:ext cx="1767840" cy="26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000" b="0">
                <a:solidFill>
                  <a:srgbClr val="6B7280"/>
                </a:solidFill>
                <a:latin typeface="Calibri" panose="020F0502020204030204"/>
              </a:rPr>
              <a:t>attributes</a:t>
            </a:r>
            <a:endParaRPr lang="en-US" sz="1000" b="0">
              <a:solidFill>
                <a:srgbClr val="6B7280"/>
              </a:solidFill>
              <a:latin typeface="Calibri" panose="020F0502020204030204"/>
            </a:endParaRPr>
          </a:p>
        </p:txBody>
      </p:sp>
      <p:sp>
        <p:nvSpPr>
          <p:cNvPr id="120" name="Shape 120"/>
          <p:cNvSpPr/>
          <p:nvPr/>
        </p:nvSpPr>
        <p:spPr>
          <a:xfrm>
            <a:off x="9966960" y="1830000"/>
            <a:ext cx="1767840" cy="820000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 121"/>
          <p:cNvSpPr txBox="1"/>
          <p:nvPr/>
        </p:nvSpPr>
        <p:spPr>
          <a:xfrm>
            <a:off x="9966960" y="1880000"/>
            <a:ext cx="1767840" cy="4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E76F51"/>
                </a:solidFill>
                <a:latin typeface="Calibri" panose="020F0502020204030204"/>
              </a:rPr>
              <a:t>15.6%</a:t>
            </a:r>
            <a:endParaRPr lang="en-US" sz="2200" b="1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122" name="Text 122"/>
          <p:cNvSpPr txBox="1"/>
          <p:nvPr/>
        </p:nvSpPr>
        <p:spPr>
          <a:xfrm>
            <a:off x="9966960" y="2330000"/>
            <a:ext cx="1767840" cy="26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000" b="0">
                <a:solidFill>
                  <a:srgbClr val="6B7280"/>
                </a:solidFill>
                <a:latin typeface="Calibri" panose="020F0502020204030204"/>
              </a:rPr>
              <a:t>purchase rate</a:t>
            </a:r>
            <a:endParaRPr lang="en-US" sz="1000" b="0">
              <a:solidFill>
                <a:srgbClr val="6B7280"/>
              </a:solidFill>
              <a:latin typeface="Calibri" panose="020F0502020204030204"/>
            </a:endParaRPr>
          </a:p>
        </p:txBody>
      </p:sp>
      <p:pic>
        <p:nvPicPr>
          <p:cNvPr id="123" name="Image 123" descr="Dataset 2 class bala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412" y="2800000"/>
            <a:ext cx="4150375" cy="3200000"/>
          </a:xfrm>
          <a:prstGeom prst="rect">
            <a:avLst/>
          </a:prstGeom>
        </p:spPr>
      </p:pic>
      <p:sp>
        <p:nvSpPr>
          <p:cNvPr id="124" name="Text 124"/>
          <p:cNvSpPr txBox="1"/>
          <p:nvPr/>
        </p:nvSpPr>
        <p:spPr>
          <a:xfrm>
            <a:off x="6248400" y="6060000"/>
            <a:ext cx="5486400" cy="38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100" b="0">
                <a:solidFill>
                  <a:srgbClr val="222222"/>
                </a:solidFill>
                <a:latin typeface="Calibri" panose="020F0502020204030204"/>
              </a:rPr>
              <a:t>Target: Revenue (True = purchase)  •  125 duplicate rows removed  •  Split: 60 / 20 / 20</a:t>
            </a:r>
            <a:endParaRPr lang="en-US" sz="1100" b="0">
              <a:solidFill>
                <a:srgbClr val="22222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UNDERSTANDING &amp;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raw sessions to a tested model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65992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Rounded Rectangle 13"/>
          <p:cNvSpPr/>
          <p:nvPr/>
        </p:nvSpPr>
        <p:spPr>
          <a:xfrm>
            <a:off x="457200" y="3017520"/>
            <a:ext cx="17373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063239"/>
            <a:ext cx="1591056" cy="16459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E2761"/>
                </a:solidFill>
                <a:latin typeface="Calibri" panose="020F0502020204030204"/>
              </a:rPr>
              <a:t>Raw data</a:t>
            </a:r>
            <a:endParaRPr sz="1400" b="1">
              <a:solidFill>
                <a:srgbClr val="1E2761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Dataset 1: 455,401 sessions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Dataset 2: 12,330 sessions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560320" y="3017520"/>
            <a:ext cx="18288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3063239"/>
            <a:ext cx="1682496" cy="16459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A9D8F"/>
                </a:solidFill>
                <a:latin typeface="Calibri" panose="020F0502020204030204"/>
              </a:rPr>
              <a:t>Clean + features</a:t>
            </a:r>
            <a:endParaRPr sz="1400" b="1">
              <a:solidFill>
                <a:srgbClr val="2A9D8F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Remove duplicates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Check missing values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Add engineered features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54880" y="3017520"/>
            <a:ext cx="16459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2" y="3063239"/>
            <a:ext cx="1499616" cy="16459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E2761"/>
                </a:solidFill>
                <a:latin typeface="Calibri" panose="020F0502020204030204"/>
              </a:rPr>
              <a:t>Stratified split</a:t>
            </a:r>
            <a:endParaRPr sz="1400" b="1">
              <a:solidFill>
                <a:srgbClr val="1E2761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60 / 20 / 20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same purchase ratio in every part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58000" y="1645920"/>
            <a:ext cx="2148840" cy="128016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2222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1152" y="1691640"/>
            <a:ext cx="2002536" cy="11887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A9D8F"/>
                </a:solidFill>
                <a:latin typeface="Calibri" panose="020F0502020204030204"/>
              </a:rPr>
              <a:t>Train set  (60%)</a:t>
            </a:r>
            <a:endParaRPr sz="1400" b="1">
              <a:solidFill>
                <a:srgbClr val="2A9D8F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Fits scaler, encoder and models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418320" y="1645920"/>
            <a:ext cx="231343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1472" y="1691640"/>
            <a:ext cx="2167127" cy="11887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A9D8F"/>
                </a:solidFill>
                <a:latin typeface="Calibri" panose="020F0502020204030204"/>
              </a:rPr>
              <a:t>Model training</a:t>
            </a:r>
            <a:endParaRPr sz="1400" b="1">
              <a:solidFill>
                <a:srgbClr val="2A9D8F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LR, SVM, Random Forest, Gradient Boosting, XGBoost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58000" y="3337560"/>
            <a:ext cx="2148840" cy="128016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22225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3383279"/>
            <a:ext cx="2002536" cy="11887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76F51"/>
                </a:solidFill>
                <a:latin typeface="Calibri" panose="020F0502020204030204"/>
              </a:rPr>
              <a:t>Validation set  (20%)</a:t>
            </a:r>
            <a:endParaRPr sz="1400" b="1">
              <a:solidFill>
                <a:srgbClr val="E76F51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Used to tune the threshold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418320" y="3337560"/>
            <a:ext cx="231343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91472" y="3383279"/>
            <a:ext cx="2167127" cy="11887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76F51"/>
                </a:solidFill>
                <a:latin typeface="Calibri" panose="020F0502020204030204"/>
              </a:rPr>
              <a:t>Threshold tuning</a:t>
            </a:r>
            <a:endParaRPr sz="1400" b="1">
              <a:solidFill>
                <a:srgbClr val="E76F51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Best F1 on validation; pick final model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858000" y="5029200"/>
            <a:ext cx="2148840" cy="128016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5074920"/>
            <a:ext cx="2002536" cy="11887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E2761"/>
                </a:solidFill>
                <a:latin typeface="Calibri" panose="020F0502020204030204"/>
              </a:rPr>
              <a:t>Test set  (20%)</a:t>
            </a:r>
            <a:endParaRPr sz="1400" b="1">
              <a:solidFill>
                <a:srgbClr val="1E2761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Untouched until the end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9418320" y="5029200"/>
            <a:ext cx="2313432" cy="12801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5074920"/>
            <a:ext cx="2167127" cy="11887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Final evaluation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FFFFFF"/>
                </a:solidFill>
                <a:latin typeface="Calibri" panose="020F0502020204030204"/>
              </a:rPr>
              <a:t>Accuracy, Precision, Recall, F1, ROC-AUC, PR-AUC</a:t>
            </a:r>
            <a:endParaRPr sz="1200" b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32" name="Connector 31"/>
          <p:cNvCxnSpPr>
            <a:stCxn id="14" idx="3"/>
            <a:endCxn id="16" idx="1"/>
          </p:cNvCxnSpPr>
          <p:nvPr/>
        </p:nvCxnSpPr>
        <p:spPr>
          <a:xfrm flipV="1">
            <a:off x="2194560" y="3886200"/>
            <a:ext cx="365760" cy="0"/>
          </a:xfrm>
          <a:prstGeom prst="line">
            <a:avLst/>
          </a:prstGeom>
          <a:ln w="28575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16" idx="3"/>
            <a:endCxn id="18" idx="1"/>
          </p:cNvCxnSpPr>
          <p:nvPr/>
        </p:nvCxnSpPr>
        <p:spPr>
          <a:xfrm flipV="1">
            <a:off x="4389120" y="3886200"/>
            <a:ext cx="365760" cy="0"/>
          </a:xfrm>
          <a:prstGeom prst="line">
            <a:avLst/>
          </a:prstGeom>
          <a:ln w="28575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8" idx="3"/>
            <a:endCxn id="20" idx="1"/>
          </p:cNvCxnSpPr>
          <p:nvPr/>
        </p:nvCxnSpPr>
        <p:spPr>
          <a:xfrm flipV="1">
            <a:off x="6400800" y="2286000"/>
            <a:ext cx="457200" cy="1600200"/>
          </a:xfrm>
          <a:prstGeom prst="line">
            <a:avLst/>
          </a:prstGeom>
          <a:ln w="28575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18" idx="3"/>
            <a:endCxn id="24" idx="1"/>
          </p:cNvCxnSpPr>
          <p:nvPr/>
        </p:nvCxnSpPr>
        <p:spPr>
          <a:xfrm>
            <a:off x="6400800" y="3886200"/>
            <a:ext cx="457200" cy="91440"/>
          </a:xfrm>
          <a:prstGeom prst="line">
            <a:avLst/>
          </a:prstGeom>
          <a:ln w="28575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18" idx="3"/>
            <a:endCxn id="28" idx="1"/>
          </p:cNvCxnSpPr>
          <p:nvPr/>
        </p:nvCxnSpPr>
        <p:spPr>
          <a:xfrm>
            <a:off x="6400800" y="3886200"/>
            <a:ext cx="457200" cy="1783080"/>
          </a:xfrm>
          <a:prstGeom prst="line">
            <a:avLst/>
          </a:prstGeom>
          <a:ln w="28575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20" idx="3"/>
            <a:endCxn id="22" idx="1"/>
          </p:cNvCxnSpPr>
          <p:nvPr/>
        </p:nvCxnSpPr>
        <p:spPr>
          <a:xfrm flipV="1">
            <a:off x="9006840" y="2286000"/>
            <a:ext cx="411480" cy="0"/>
          </a:xfrm>
          <a:prstGeom prst="line">
            <a:avLst/>
          </a:prstGeom>
          <a:ln w="28575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24" idx="3"/>
            <a:endCxn id="26" idx="1"/>
          </p:cNvCxnSpPr>
          <p:nvPr/>
        </p:nvCxnSpPr>
        <p:spPr>
          <a:xfrm flipV="1">
            <a:off x="9006840" y="3977640"/>
            <a:ext cx="411480" cy="0"/>
          </a:xfrm>
          <a:prstGeom prst="line">
            <a:avLst/>
          </a:prstGeom>
          <a:ln w="28575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28" idx="3"/>
            <a:endCxn id="30" idx="1"/>
          </p:cNvCxnSpPr>
          <p:nvPr/>
        </p:nvCxnSpPr>
        <p:spPr>
          <a:xfrm flipV="1">
            <a:off x="9006840" y="5669280"/>
            <a:ext cx="411480" cy="0"/>
          </a:xfrm>
          <a:prstGeom prst="line">
            <a:avLst/>
          </a:prstGeom>
          <a:ln w="28575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22" idx="2"/>
            <a:endCxn id="26" idx="0"/>
          </p:cNvCxnSpPr>
          <p:nvPr/>
        </p:nvCxnSpPr>
        <p:spPr>
          <a:xfrm flipH="1">
            <a:off x="10575036" y="2926080"/>
            <a:ext cx="0" cy="411480"/>
          </a:xfrm>
          <a:prstGeom prst="line">
            <a:avLst/>
          </a:prstGeom>
          <a:ln w="28575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stCxn id="26" idx="2"/>
            <a:endCxn id="30" idx="0"/>
          </p:cNvCxnSpPr>
          <p:nvPr/>
        </p:nvCxnSpPr>
        <p:spPr>
          <a:xfrm flipH="1">
            <a:off x="10575036" y="4617720"/>
            <a:ext cx="0" cy="411480"/>
          </a:xfrm>
          <a:prstGeom prst="line">
            <a:avLst/>
          </a:prstGeom>
          <a:ln w="28575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UNDERSTANDING &amp;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 and feature engineering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Methods are chosen according to the type and role of each feature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65992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5120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3A6FC4"/>
                </a:solidFill>
                <a:latin typeface="Calibri" panose="020F0502020204030204"/>
              </a:rPr>
              <a:t>TRANSFORMATIONS</a:t>
            </a:r>
            <a:endParaRPr sz="1300" b="1">
              <a:solidFill>
                <a:srgbClr val="3A6FC4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7200" y="201168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084832"/>
            <a:ext cx="4206240" cy="12252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E2761"/>
                </a:solidFill>
                <a:latin typeface="Calibri" panose="020F0502020204030204"/>
              </a:rPr>
              <a:t>StandardScaler</a:t>
            </a:r>
            <a:endParaRPr sz="1600" b="1">
              <a:solidFill>
                <a:srgbClr val="1E2761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Centres and scales numeric features so units do not dominate (used for Logistic Regression).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4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3593592"/>
            <a:ext cx="4206240" cy="12252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E2761"/>
                </a:solidFill>
                <a:latin typeface="Calibri" panose="020F0502020204030204"/>
              </a:rPr>
              <a:t>One-hot encoding</a:t>
            </a:r>
            <a:endParaRPr sz="1600" b="1">
              <a:solidFill>
                <a:srgbClr val="1E2761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Dataset 2 categories (month, visitor type, operating system, browser, region, traffic type) become indicator columns.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5102352"/>
            <a:ext cx="4206240" cy="12252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E2761"/>
                </a:solidFill>
                <a:latin typeface="Calibri" panose="020F0502020204030204"/>
              </a:rPr>
              <a:t>Class weights</a:t>
            </a:r>
            <a:endParaRPr sz="1600" b="1">
              <a:solidFill>
                <a:srgbClr val="1E2761"/>
              </a:solidFill>
              <a:latin typeface="Calibri" panose="020F0502020204030204"/>
            </a:endParaRPr>
          </a:p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class_weight = "balanced" makes the models pay more attention to the rare purchase class, without changing the real data.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35040" y="1600200"/>
            <a:ext cx="5669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 panose="020F0502020204030204"/>
              </a:rPr>
              <a:t>ENGINEERED BEHAVIOURAL FEATURES</a:t>
            </a:r>
            <a:endParaRPr sz="1300" b="1">
              <a:solidFill>
                <a:srgbClr val="2A9D8F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35040" y="1874519"/>
            <a:ext cx="5669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Calibri" panose="020F0502020204030204"/>
              </a:rPr>
              <a:t>Dataset 1</a:t>
            </a:r>
            <a:endParaRPr sz="1300" b="1">
              <a:solidFill>
                <a:srgbClr val="2A9D8F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035040" y="2176272"/>
            <a:ext cx="569671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72200" y="2286000"/>
            <a:ext cx="256032" cy="25603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185415"/>
            <a:ext cx="2514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 panose="020F0502020204030204"/>
              </a:rPr>
              <a:t>total_clicks</a:t>
            </a:r>
            <a:endParaRPr sz="1300" b="1">
              <a:solidFill>
                <a:srgbClr val="1E2761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06840" y="2185415"/>
            <a:ext cx="2697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sum of 10 click / action counts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035040" y="2706624"/>
            <a:ext cx="569671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72200" y="2816352"/>
            <a:ext cx="256032" cy="25603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2715768"/>
            <a:ext cx="2514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 panose="020F0502020204030204"/>
              </a:rPr>
              <a:t>info_checks</a:t>
            </a:r>
            <a:endParaRPr sz="1300" b="1">
              <a:solidFill>
                <a:srgbClr val="1E2761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006840" y="2715768"/>
            <a:ext cx="2697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delivery, returns and size-chart views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35040" y="3310128"/>
            <a:ext cx="5669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Calibri" panose="020F0502020204030204"/>
              </a:rPr>
              <a:t>Dataset 2</a:t>
            </a:r>
            <a:endParaRPr sz="1300" b="1">
              <a:solidFill>
                <a:srgbClr val="E76F51"/>
              </a:solidFill>
              <a:latin typeface="Calibri" panose="020F0502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035040" y="3611880"/>
            <a:ext cx="569671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72200" y="3721608"/>
            <a:ext cx="256032" cy="256032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621024"/>
            <a:ext cx="2514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 panose="020F0502020204030204"/>
              </a:rPr>
              <a:t>TotalPages</a:t>
            </a:r>
            <a:endParaRPr sz="1300" b="1">
              <a:solidFill>
                <a:srgbClr val="1E2761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06840" y="3621024"/>
            <a:ext cx="2697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combined page count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035040" y="4142232"/>
            <a:ext cx="569671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72200" y="4251960"/>
            <a:ext cx="256032" cy="256032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151376"/>
            <a:ext cx="2514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 panose="020F0502020204030204"/>
              </a:rPr>
              <a:t>TotalDuration</a:t>
            </a:r>
            <a:endParaRPr sz="1300" b="1">
              <a:solidFill>
                <a:srgbClr val="1E2761"/>
              </a:solidFill>
              <a:latin typeface="Calibri" panose="020F0502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006840" y="4151376"/>
            <a:ext cx="2697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combined browsing time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035040" y="4672584"/>
            <a:ext cx="569671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72200" y="4782312"/>
            <a:ext cx="256032" cy="256032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681728"/>
            <a:ext cx="2514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 panose="020F0502020204030204"/>
              </a:rPr>
              <a:t>AvgTimePerPage</a:t>
            </a:r>
            <a:endParaRPr sz="1300" b="1">
              <a:solidFill>
                <a:srgbClr val="1E2761"/>
              </a:solidFill>
              <a:latin typeface="Calibri" panose="020F0502020204030204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06840" y="4681728"/>
            <a:ext cx="2697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time relative to pages viewed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035040" y="5202936"/>
            <a:ext cx="569671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172200" y="5312664"/>
            <a:ext cx="256032" cy="256032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5212080"/>
            <a:ext cx="2514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 panose="020F0502020204030204"/>
              </a:rPr>
              <a:t>ExitBounceDiff</a:t>
            </a:r>
            <a:endParaRPr sz="1300" b="1">
              <a:solidFill>
                <a:srgbClr val="1E2761"/>
              </a:solidFill>
              <a:latin typeface="Calibri" panose="020F050202020403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06840" y="5212080"/>
            <a:ext cx="2697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ExitRates minus BounceRates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035040" y="5733288"/>
            <a:ext cx="569671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72200" y="5843016"/>
            <a:ext cx="256032" cy="256032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5742432"/>
            <a:ext cx="25146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 panose="020F0502020204030204"/>
              </a:rPr>
              <a:t>PageValuePerProductPage</a:t>
            </a:r>
            <a:endParaRPr sz="1300" b="1">
              <a:solidFill>
                <a:srgbClr val="1E2761"/>
              </a:solidFill>
              <a:latin typeface="Calibri" panose="020F050202020403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006840" y="5742432"/>
            <a:ext cx="2697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 panose="020F0502020204030204"/>
              </a:rPr>
              <a:t>PageValues relative to product pages</a:t>
            </a:r>
            <a:endParaRPr sz="1200" b="0">
              <a:solidFill>
                <a:srgbClr val="22222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MODELLING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models, chosen for different strengths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Linear, kernel and tree-based families compared fairly on both datasets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65992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  <p:sp>
        <p:nvSpPr>
          <p:cNvPr id="125" name="Shape 125"/>
          <p:cNvSpPr/>
          <p:nvPr/>
        </p:nvSpPr>
        <p:spPr>
          <a:xfrm>
            <a:off x="457200" y="1600200"/>
            <a:ext cx="11247120" cy="8400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Shape 126"/>
          <p:cNvSpPr/>
          <p:nvPr/>
        </p:nvSpPr>
        <p:spPr>
          <a:xfrm>
            <a:off x="640080" y="1791600"/>
            <a:ext cx="457200" cy="457200"/>
          </a:xfrm>
          <a:prstGeom prst="ellipse">
            <a:avLst/>
          </a:prstGeom>
          <a:solidFill>
            <a:srgbClr val="4C78A8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 127"/>
          <p:cNvSpPr txBox="1"/>
          <p:nvPr/>
        </p:nvSpPr>
        <p:spPr>
          <a:xfrm>
            <a:off x="640080" y="1791600"/>
            <a:ext cx="457200" cy="4572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anose="020F0502020204030204"/>
              </a:rPr>
              <a:t>1</a:t>
            </a:r>
            <a:endParaRPr lang="en-US"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" name="Text 128"/>
          <p:cNvSpPr txBox="1"/>
          <p:nvPr/>
        </p:nvSpPr>
        <p:spPr>
          <a:xfrm>
            <a:off x="1280160" y="1600200"/>
            <a:ext cx="3300000" cy="8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800" b="1">
                <a:solidFill>
                  <a:srgbClr val="1E2761"/>
                </a:solidFill>
                <a:latin typeface="Calibri" panose="020F0502020204030204"/>
              </a:rPr>
              <a:t>Logistic Regression</a:t>
            </a:r>
            <a:endParaRPr lang="en-US" sz="1800" b="1">
              <a:solidFill>
                <a:srgbClr val="1E2761"/>
              </a:solidFill>
              <a:latin typeface="Calibri" panose="020F0502020204030204"/>
            </a:endParaRPr>
          </a:p>
          <a:p>
            <a:pPr marL="0" indent="0" algn="l">
              <a:buNone/>
            </a:pPr>
            <a:r>
              <a:rPr lang="en-US" sz="1100" b="0">
                <a:solidFill>
                  <a:srgbClr val="6B7280"/>
                </a:solidFill>
                <a:latin typeface="Calibri" panose="020F0502020204030204"/>
              </a:rPr>
              <a:t>Linear model</a:t>
            </a:r>
            <a:endParaRPr lang="en-US" sz="1100" b="0">
              <a:solidFill>
                <a:srgbClr val="6B7280"/>
              </a:solidFill>
              <a:latin typeface="Calibri" panose="020F0502020204030204"/>
            </a:endParaRPr>
          </a:p>
        </p:txBody>
      </p:sp>
      <p:sp>
        <p:nvSpPr>
          <p:cNvPr id="129" name="Text 129"/>
          <p:cNvSpPr txBox="1"/>
          <p:nvPr/>
        </p:nvSpPr>
        <p:spPr>
          <a:xfrm>
            <a:off x="4800000" y="1600200"/>
            <a:ext cx="6700000" cy="8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1400" b="0">
                <a:solidFill>
                  <a:srgbClr val="222222"/>
                </a:solidFill>
                <a:latin typeface="Calibri" panose="020F0502020204030204"/>
              </a:rPr>
              <a:t>Fast, interpretable baseline. Coefficients show which behaviours push toward a purchase.</a:t>
            </a:r>
            <a:endParaRPr lang="en-US" sz="14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457200" y="2560200"/>
            <a:ext cx="11247120" cy="8400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Shape 131"/>
          <p:cNvSpPr/>
          <p:nvPr/>
        </p:nvSpPr>
        <p:spPr>
          <a:xfrm>
            <a:off x="640080" y="2751600"/>
            <a:ext cx="457200" cy="457200"/>
          </a:xfrm>
          <a:prstGeom prst="ellipse">
            <a:avLst/>
          </a:prstGeom>
          <a:solidFill>
            <a:srgbClr val="B07AA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 132"/>
          <p:cNvSpPr txBox="1"/>
          <p:nvPr/>
        </p:nvSpPr>
        <p:spPr>
          <a:xfrm>
            <a:off x="640080" y="2751600"/>
            <a:ext cx="457200" cy="4572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anose="020F0502020204030204"/>
              </a:rPr>
              <a:t>2</a:t>
            </a:r>
            <a:endParaRPr lang="en-US"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" name="Text 133"/>
          <p:cNvSpPr txBox="1"/>
          <p:nvPr/>
        </p:nvSpPr>
        <p:spPr>
          <a:xfrm>
            <a:off x="1280160" y="2560200"/>
            <a:ext cx="3300000" cy="8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800" b="1">
                <a:solidFill>
                  <a:srgbClr val="1E2761"/>
                </a:solidFill>
                <a:latin typeface="Calibri" panose="020F0502020204030204"/>
              </a:rPr>
              <a:t>SVM (Support Vector Machine)</a:t>
            </a:r>
            <a:endParaRPr lang="en-US" sz="1800" b="1">
              <a:solidFill>
                <a:srgbClr val="1E2761"/>
              </a:solidFill>
              <a:latin typeface="Calibri" panose="020F0502020204030204"/>
            </a:endParaRPr>
          </a:p>
          <a:p>
            <a:pPr marL="0" indent="0" algn="l">
              <a:buNone/>
            </a:pPr>
            <a:r>
              <a:rPr lang="en-US" sz="1100" b="0">
                <a:solidFill>
                  <a:srgbClr val="6B7280"/>
                </a:solidFill>
                <a:latin typeface="Calibri" panose="020F0502020204030204"/>
              </a:rPr>
              <a:t>Kernel model</a:t>
            </a:r>
            <a:endParaRPr lang="en-US" sz="1100" b="0">
              <a:solidFill>
                <a:srgbClr val="6B7280"/>
              </a:solidFill>
              <a:latin typeface="Calibri" panose="020F0502020204030204"/>
            </a:endParaRPr>
          </a:p>
        </p:txBody>
      </p:sp>
      <p:sp>
        <p:nvSpPr>
          <p:cNvPr id="134" name="Text 134"/>
          <p:cNvSpPr txBox="1"/>
          <p:nvPr/>
        </p:nvSpPr>
        <p:spPr>
          <a:xfrm>
            <a:off x="4800000" y="2560200"/>
            <a:ext cx="6700000" cy="8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1400" b="0">
                <a:solidFill>
                  <a:srgbClr val="222222"/>
                </a:solidFill>
                <a:latin typeface="Calibri" panose="020F0502020204030204"/>
              </a:rPr>
              <a:t>Max-margin boundary that captures non-linear patterns the linear model misses.</a:t>
            </a:r>
            <a:endParaRPr lang="en-US" sz="14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35" name="Shape 135"/>
          <p:cNvSpPr/>
          <p:nvPr/>
        </p:nvSpPr>
        <p:spPr>
          <a:xfrm>
            <a:off x="457200" y="3520200"/>
            <a:ext cx="11247120" cy="8400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Shape 136"/>
          <p:cNvSpPr/>
          <p:nvPr/>
        </p:nvSpPr>
        <p:spPr>
          <a:xfrm>
            <a:off x="640080" y="3711600"/>
            <a:ext cx="457200" cy="457200"/>
          </a:xfrm>
          <a:prstGeom prst="ellipse">
            <a:avLst/>
          </a:prstGeom>
          <a:solidFill>
            <a:srgbClr val="59A14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 137"/>
          <p:cNvSpPr txBox="1"/>
          <p:nvPr/>
        </p:nvSpPr>
        <p:spPr>
          <a:xfrm>
            <a:off x="640080" y="3711600"/>
            <a:ext cx="457200" cy="4572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anose="020F0502020204030204"/>
              </a:rPr>
              <a:t>3</a:t>
            </a:r>
            <a:endParaRPr lang="en-US"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" name="Text 138"/>
          <p:cNvSpPr txBox="1"/>
          <p:nvPr/>
        </p:nvSpPr>
        <p:spPr>
          <a:xfrm>
            <a:off x="1280160" y="3520200"/>
            <a:ext cx="3300000" cy="8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800" b="1">
                <a:solidFill>
                  <a:srgbClr val="1E2761"/>
                </a:solidFill>
                <a:latin typeface="Calibri" panose="020F0502020204030204"/>
              </a:rPr>
              <a:t>Random Forest</a:t>
            </a:r>
            <a:endParaRPr lang="en-US" sz="1800" b="1">
              <a:solidFill>
                <a:srgbClr val="1E2761"/>
              </a:solidFill>
              <a:latin typeface="Calibri" panose="020F0502020204030204"/>
            </a:endParaRPr>
          </a:p>
          <a:p>
            <a:pPr marL="0" indent="0" algn="l">
              <a:buNone/>
            </a:pPr>
            <a:r>
              <a:rPr lang="en-US" sz="1100" b="0">
                <a:solidFill>
                  <a:srgbClr val="6B7280"/>
                </a:solidFill>
                <a:latin typeface="Calibri" panose="020F0502020204030204"/>
              </a:rPr>
              <a:t>Tree ensemble (bagging)</a:t>
            </a:r>
            <a:endParaRPr lang="en-US" sz="1100" b="0">
              <a:solidFill>
                <a:srgbClr val="6B7280"/>
              </a:solidFill>
              <a:latin typeface="Calibri" panose="020F0502020204030204"/>
            </a:endParaRPr>
          </a:p>
        </p:txBody>
      </p:sp>
      <p:sp>
        <p:nvSpPr>
          <p:cNvPr id="139" name="Text 139"/>
          <p:cNvSpPr txBox="1"/>
          <p:nvPr/>
        </p:nvSpPr>
        <p:spPr>
          <a:xfrm>
            <a:off x="4800000" y="3520200"/>
            <a:ext cx="6700000" cy="8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1400" b="0">
                <a:solidFill>
                  <a:srgbClr val="222222"/>
                </a:solidFill>
                <a:latin typeface="Calibri" panose="020F0502020204030204"/>
              </a:rPr>
              <a:t>Bags many decision trees; robust to noise and needs little tuning, a strong and reliable middle ground.</a:t>
            </a:r>
            <a:endParaRPr lang="en-US" sz="14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457200" y="4480200"/>
            <a:ext cx="11247120" cy="8400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Shape 141"/>
          <p:cNvSpPr/>
          <p:nvPr/>
        </p:nvSpPr>
        <p:spPr>
          <a:xfrm>
            <a:off x="640080" y="4671600"/>
            <a:ext cx="457200" cy="457200"/>
          </a:xfrm>
          <a:prstGeom prst="ellipse">
            <a:avLst/>
          </a:prstGeom>
          <a:solidFill>
            <a:srgbClr val="E15759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 142"/>
          <p:cNvSpPr txBox="1"/>
          <p:nvPr/>
        </p:nvSpPr>
        <p:spPr>
          <a:xfrm>
            <a:off x="640080" y="4671600"/>
            <a:ext cx="457200" cy="4572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anose="020F0502020204030204"/>
              </a:rPr>
              <a:t>4</a:t>
            </a:r>
            <a:endParaRPr lang="en-US"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" name="Text 143"/>
          <p:cNvSpPr txBox="1"/>
          <p:nvPr/>
        </p:nvSpPr>
        <p:spPr>
          <a:xfrm>
            <a:off x="1280160" y="4480200"/>
            <a:ext cx="3300000" cy="8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800" b="1">
                <a:solidFill>
                  <a:srgbClr val="1E2761"/>
                </a:solidFill>
                <a:latin typeface="Calibri" panose="020F0502020204030204"/>
              </a:rPr>
              <a:t>Gradient Boosting</a:t>
            </a:r>
            <a:endParaRPr lang="en-US" sz="1800" b="1">
              <a:solidFill>
                <a:srgbClr val="1E2761"/>
              </a:solidFill>
              <a:latin typeface="Calibri" panose="020F0502020204030204"/>
            </a:endParaRPr>
          </a:p>
          <a:p>
            <a:pPr marL="0" indent="0" algn="l">
              <a:buNone/>
            </a:pPr>
            <a:r>
              <a:rPr lang="en-US" sz="1100" b="0">
                <a:solidFill>
                  <a:srgbClr val="6B7280"/>
                </a:solidFill>
                <a:latin typeface="Calibri" panose="020F0502020204030204"/>
              </a:rPr>
              <a:t>Tree ensemble (boosting)</a:t>
            </a:r>
            <a:endParaRPr lang="en-US" sz="1100" b="0">
              <a:solidFill>
                <a:srgbClr val="6B7280"/>
              </a:solidFill>
              <a:latin typeface="Calibri" panose="020F0502020204030204"/>
            </a:endParaRPr>
          </a:p>
        </p:txBody>
      </p:sp>
      <p:sp>
        <p:nvSpPr>
          <p:cNvPr id="144" name="Text 144"/>
          <p:cNvSpPr txBox="1"/>
          <p:nvPr/>
        </p:nvSpPr>
        <p:spPr>
          <a:xfrm>
            <a:off x="4800000" y="4480200"/>
            <a:ext cx="6700000" cy="8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1400" b="0">
                <a:solidFill>
                  <a:srgbClr val="222222"/>
                </a:solidFill>
                <a:latin typeface="Calibri" panose="020F0502020204030204"/>
              </a:rPr>
              <a:t>Each new tree corrects the previous tree’s errors, which suits tabular behaviour data.</a:t>
            </a:r>
            <a:endParaRPr lang="en-US" sz="14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45" name="Shape 145"/>
          <p:cNvSpPr/>
          <p:nvPr/>
        </p:nvSpPr>
        <p:spPr>
          <a:xfrm>
            <a:off x="457200" y="5440200"/>
            <a:ext cx="11247120" cy="8400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Shape 146"/>
          <p:cNvSpPr/>
          <p:nvPr/>
        </p:nvSpPr>
        <p:spPr>
          <a:xfrm>
            <a:off x="640080" y="5631600"/>
            <a:ext cx="457200" cy="457200"/>
          </a:xfrm>
          <a:prstGeom prst="ellipse">
            <a:avLst/>
          </a:prstGeom>
          <a:solidFill>
            <a:srgbClr val="F28E2B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 147"/>
          <p:cNvSpPr txBox="1"/>
          <p:nvPr/>
        </p:nvSpPr>
        <p:spPr>
          <a:xfrm>
            <a:off x="640080" y="5631600"/>
            <a:ext cx="457200" cy="4572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anose="020F0502020204030204"/>
              </a:rPr>
              <a:t>5</a:t>
            </a:r>
            <a:endParaRPr lang="en-US"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8" name="Text 148"/>
          <p:cNvSpPr txBox="1"/>
          <p:nvPr/>
        </p:nvSpPr>
        <p:spPr>
          <a:xfrm>
            <a:off x="1280160" y="5440200"/>
            <a:ext cx="3300000" cy="8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800" b="1">
                <a:solidFill>
                  <a:srgbClr val="1E2761"/>
                </a:solidFill>
                <a:latin typeface="Calibri" panose="020F0502020204030204"/>
              </a:rPr>
              <a:t>XGBoost</a:t>
            </a:r>
            <a:endParaRPr lang="en-US" sz="1800" b="1">
              <a:solidFill>
                <a:srgbClr val="1E2761"/>
              </a:solidFill>
              <a:latin typeface="Calibri" panose="020F0502020204030204"/>
            </a:endParaRPr>
          </a:p>
          <a:p>
            <a:pPr marL="0" indent="0" algn="l">
              <a:buNone/>
            </a:pPr>
            <a:r>
              <a:rPr lang="en-US" sz="1100" b="0">
                <a:solidFill>
                  <a:srgbClr val="6B7280"/>
                </a:solidFill>
                <a:latin typeface="Calibri" panose="020F0502020204030204"/>
              </a:rPr>
              <a:t>Tree ensemble (boosting)</a:t>
            </a:r>
            <a:endParaRPr lang="en-US" sz="1100" b="0">
              <a:solidFill>
                <a:srgbClr val="6B7280"/>
              </a:solidFill>
              <a:latin typeface="Calibri" panose="020F0502020204030204"/>
            </a:endParaRPr>
          </a:p>
        </p:txBody>
      </p:sp>
      <p:sp>
        <p:nvSpPr>
          <p:cNvPr id="149" name="Text 149"/>
          <p:cNvSpPr txBox="1"/>
          <p:nvPr/>
        </p:nvSpPr>
        <p:spPr>
          <a:xfrm>
            <a:off x="4800000" y="5440200"/>
            <a:ext cx="6700000" cy="84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1400" b="0">
                <a:solidFill>
                  <a:srgbClr val="222222"/>
                </a:solidFill>
                <a:latin typeface="Calibri" panose="020F0502020204030204"/>
              </a:rPr>
              <a:t>Regularised boosting (L1/L2) curbs overfittin</a:t>
            </a:r>
            <a:r>
              <a:rPr lang="en-IN" altLang="en-US" sz="1400" b="0">
                <a:solidFill>
                  <a:srgbClr val="222222"/>
                </a:solidFill>
                <a:latin typeface="Calibri" panose="020F0502020204030204"/>
              </a:rPr>
              <a:t>g</a:t>
            </a:r>
            <a:endParaRPr lang="en-IN" altLang="en-US" sz="1400" b="0">
              <a:solidFill>
                <a:srgbClr val="22222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EVALUATION OF 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evaluation — accuracy metrics, both datasets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18413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365992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Panel 203"/>
          <p:cNvSpPr/>
          <p:nvPr/>
        </p:nvSpPr>
        <p:spPr>
          <a:xfrm>
            <a:off x="426400" y="4426665"/>
            <a:ext cx="11277600" cy="19000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Text 204"/>
          <p:cNvSpPr txBox="1"/>
          <p:nvPr/>
        </p:nvSpPr>
        <p:spPr>
          <a:xfrm>
            <a:off x="606400" y="4556665"/>
            <a:ext cx="10917600" cy="1700000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500"/>
              </a:spcAft>
              <a:buNone/>
            </a:pPr>
            <a:r>
              <a:rPr lang="en-US" sz="1600" b="1">
                <a:solidFill>
                  <a:srgbClr val="1E2761"/>
                </a:solidFill>
                <a:latin typeface="Calibri" panose="020F0502020204030204"/>
              </a:rPr>
              <a:t>What the graphs show</a:t>
            </a:r>
            <a:endParaRPr lang="en-US" sz="1600" b="1">
              <a:solidFill>
                <a:srgbClr val="1E2761"/>
              </a:solidFill>
              <a:latin typeface="Calibri" panose="020F0502020204030204"/>
            </a:endParaRPr>
          </a:p>
          <a:p>
            <a:pPr marL="228600" indent="-228600" algn="l">
              <a:spcAft>
                <a:spcPts val="500"/>
              </a:spcAft>
              <a:buFont typeface="Arial" panose="020B0604020202020204"/>
              <a:buChar char="•"/>
            </a:pPr>
            <a:r>
              <a:rPr lang="en-US" sz="1300" b="0">
                <a:solidFill>
                  <a:srgbClr val="222222"/>
                </a:solidFill>
                <a:latin typeface="Calibri" panose="020F0502020204030204"/>
              </a:rPr>
              <a:t>Dataset 1: all 5 models score almost the same (F1 91.12–92.5%, ROC-AUC 99.59–99.74%); precision (about 86–87%) is the lowest bar.</a:t>
            </a:r>
            <a:endParaRPr lang="en-US" sz="1300" b="0">
              <a:solidFill>
                <a:srgbClr val="222222"/>
              </a:solidFill>
              <a:latin typeface="Calibri" panose="020F0502020204030204"/>
            </a:endParaRPr>
          </a:p>
          <a:p>
            <a:pPr marL="228600" indent="-228600" algn="l">
              <a:spcAft>
                <a:spcPts val="500"/>
              </a:spcAft>
              <a:buFont typeface="Arial" panose="020B0604020202020204"/>
              <a:buChar char="•"/>
            </a:pPr>
            <a:r>
              <a:rPr lang="en-US" sz="1300" b="0">
                <a:solidFill>
                  <a:srgbClr val="222222"/>
                </a:solidFill>
                <a:latin typeface="Calibri" panose="020F0502020204030204"/>
              </a:rPr>
              <a:t>Dataset 2: XGBoost leads F1 (68.71%); Random Forest has the top precision (70.90%) but the lowest recall (59.95%); Gradient Boosting has the top ROC-AUC (93.29%).</a:t>
            </a:r>
            <a:endParaRPr lang="en-US" sz="1300" b="0">
              <a:solidFill>
                <a:srgbClr val="222222"/>
              </a:solidFill>
              <a:latin typeface="Calibri" panose="020F0502020204030204"/>
            </a:endParaRPr>
          </a:p>
          <a:p>
            <a:pPr marL="228600" indent="-228600" algn="l">
              <a:spcAft>
                <a:spcPts val="500"/>
              </a:spcAft>
              <a:buFont typeface="Arial" panose="020B0604020202020204"/>
              <a:buChar char="•"/>
            </a:pPr>
            <a:r>
              <a:rPr lang="en-US" sz="1300" b="0">
                <a:solidFill>
                  <a:srgbClr val="222222"/>
                </a:solidFill>
                <a:highlight>
                  <a:srgbClr val="FFFF00"/>
                </a:highlight>
                <a:latin typeface="Calibri" panose="020F0502020204030204"/>
              </a:rPr>
              <a:t>Final models (best validation F1): Gradient Boosting on Dataset 1 (F1 92.36%) and XGBoost on Dataset 2 (F1 68.71%).</a:t>
            </a:r>
            <a:endParaRPr lang="en-US" sz="1300" b="0">
              <a:solidFill>
                <a:srgbClr val="222222"/>
              </a:solidFill>
              <a:highlight>
                <a:srgbClr val="FFFF00"/>
              </a:highlight>
              <a:latin typeface="Calibri" panose="020F0502020204030204"/>
            </a:endParaRPr>
          </a:p>
        </p:txBody>
      </p:sp>
      <p:pic>
        <p:nvPicPr>
          <p:cNvPr id="15" name="Image Dataset1 Bar" descr="Dataset 1 bar cha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535" y="1092835"/>
            <a:ext cx="5619115" cy="3298825"/>
          </a:xfrm>
          <a:prstGeom prst="rect">
            <a:avLst/>
          </a:prstGeom>
        </p:spPr>
      </p:pic>
      <p:pic>
        <p:nvPicPr>
          <p:cNvPr id="18" name="Image Dataset2 Bar" descr="Dataset 2 bar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1108075"/>
            <a:ext cx="5560695" cy="32645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EVALUATION OF 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evaluation — ROC curves, both datasets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Dataset1 ROC" descr="Dataset 1 ROC curv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608000" cy="2784000"/>
          </a:xfrm>
          <a:prstGeom prst="rect">
            <a:avLst/>
          </a:prstGeom>
        </p:spPr>
      </p:pic>
      <p:pic>
        <p:nvPicPr>
          <p:cNvPr id="17" name="Image Dataset2 ROC" descr="Dataset 2 ROC curv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200" y="1554480"/>
            <a:ext cx="5466552" cy="2784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65992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Panel 207"/>
          <p:cNvSpPr/>
          <p:nvPr/>
        </p:nvSpPr>
        <p:spPr>
          <a:xfrm>
            <a:off x="545592" y="4518112"/>
            <a:ext cx="11277600" cy="19000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" name="Text 208"/>
          <p:cNvSpPr txBox="1"/>
          <p:nvPr/>
        </p:nvSpPr>
        <p:spPr>
          <a:xfrm>
            <a:off x="725592" y="4648112"/>
            <a:ext cx="10917600" cy="1700000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500"/>
              </a:spcAft>
              <a:buNone/>
            </a:pPr>
            <a:r>
              <a:rPr lang="en-US" sz="1600" b="1">
                <a:solidFill>
                  <a:srgbClr val="1E2761"/>
                </a:solidFill>
                <a:latin typeface="Calibri" panose="020F0502020204030204"/>
              </a:rPr>
              <a:t>What the graphs show</a:t>
            </a:r>
            <a:endParaRPr lang="en-US" sz="1600" b="1">
              <a:solidFill>
                <a:srgbClr val="1E2761"/>
              </a:solidFill>
              <a:latin typeface="Calibri" panose="020F0502020204030204"/>
            </a:endParaRPr>
          </a:p>
          <a:p>
            <a:pPr marL="228600" indent="-228600" algn="l">
              <a:spcAft>
                <a:spcPts val="500"/>
              </a:spcAft>
              <a:buFont typeface="Arial" panose="020B0604020202020204"/>
              <a:buChar char="•"/>
            </a:pPr>
            <a:r>
              <a:rPr lang="en-US" sz="1300" b="0">
                <a:solidFill>
                  <a:srgbClr val="222222"/>
                </a:solidFill>
                <a:latin typeface="Calibri" panose="020F0502020204030204"/>
              </a:rPr>
              <a:t>Dataset 1: all 5 curves hug the top-left corner, far above the random-guess diagonal (AUC 0.996–0.997).</a:t>
            </a:r>
            <a:endParaRPr lang="en-US" sz="1300" b="0">
              <a:solidFill>
                <a:srgbClr val="222222"/>
              </a:solidFill>
              <a:latin typeface="Calibri" panose="020F0502020204030204"/>
            </a:endParaRPr>
          </a:p>
          <a:p>
            <a:pPr marL="228600" indent="-228600" algn="l">
              <a:spcAft>
                <a:spcPts val="500"/>
              </a:spcAft>
              <a:buFont typeface="Arial" panose="020B0604020202020204"/>
              <a:buChar char="•"/>
            </a:pPr>
            <a:r>
              <a:rPr lang="en-US" sz="1300" b="0">
                <a:solidFill>
                  <a:srgbClr val="222222"/>
                </a:solidFill>
                <a:latin typeface="Calibri" panose="020F0502020204030204"/>
              </a:rPr>
              <a:t>Dataset 2: Logistic Regression (AUC 0.910) and SVM (0.894) trail the tree models (AUC 0.928–0.933).</a:t>
            </a:r>
            <a:endParaRPr lang="en-US" sz="1300" b="0">
              <a:solidFill>
                <a:srgbClr val="222222"/>
              </a:solidFill>
              <a:latin typeface="Calibri" panose="020F0502020204030204"/>
            </a:endParaRPr>
          </a:p>
          <a:p>
            <a:pPr marL="228600" indent="-228600" algn="l">
              <a:spcAft>
                <a:spcPts val="500"/>
              </a:spcAft>
              <a:buFont typeface="Arial" panose="020B0604020202020204"/>
              <a:buChar char="•"/>
            </a:pPr>
            <a:r>
              <a:rPr lang="en-US" sz="1300" b="0">
                <a:solidFill>
                  <a:srgbClr val="222222"/>
                </a:solidFill>
                <a:latin typeface="Calibri" panose="020F0502020204030204"/>
              </a:rPr>
              <a:t>Final models: </a:t>
            </a:r>
            <a:r>
              <a:rPr lang="en-US" sz="1300" b="0">
                <a:solidFill>
                  <a:srgbClr val="222222"/>
                </a:solidFill>
                <a:highlight>
                  <a:srgbClr val="FFFF00"/>
                </a:highlight>
                <a:latin typeface="Calibri" panose="020F0502020204030204"/>
              </a:rPr>
              <a:t>Gradient Boosting on Dataset 1 (ROC-AUC 99.74%) and XGBoost on Dataset 2 (ROC-AUC 92.82%), chosen on validation F1.</a:t>
            </a:r>
            <a:endParaRPr lang="en-US" sz="1300" b="0">
              <a:solidFill>
                <a:srgbClr val="222222"/>
              </a:solidFill>
              <a:highlight>
                <a:srgbClr val="FFFF00"/>
              </a:highlight>
              <a:latin typeface="Calibri" panose="020F0502020204030204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870200" y="1062990"/>
            <a:ext cx="1146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Dataset 1</a:t>
            </a:r>
            <a:endParaRPr lang="en-I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8503285" y="1006475"/>
            <a:ext cx="1146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Dataset 2</a:t>
            </a:r>
            <a:endParaRPr lang="en-I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Training, tuning, and threshold selection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65992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201" name="Image 201" descr="Dataset 1 threshold tun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76350"/>
            <a:ext cx="4098290" cy="27628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2" name="Image 202" descr="Dataset 2 threshold tun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145" y="1289685"/>
            <a:ext cx="3935095" cy="27495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Panel 203"/>
          <p:cNvSpPr/>
          <p:nvPr/>
        </p:nvSpPr>
        <p:spPr>
          <a:xfrm>
            <a:off x="8794115" y="1818005"/>
            <a:ext cx="3194685" cy="460883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ext 204"/>
          <p:cNvSpPr txBox="1"/>
          <p:nvPr/>
        </p:nvSpPr>
        <p:spPr>
          <a:xfrm>
            <a:off x="8945245" y="2165350"/>
            <a:ext cx="2767330" cy="3771265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600" b="1">
                <a:solidFill>
                  <a:srgbClr val="1E2761"/>
                </a:solidFill>
                <a:latin typeface="Calibri" panose="020F0502020204030204"/>
              </a:rPr>
              <a:t>Threshold tuning</a:t>
            </a:r>
            <a:endParaRPr lang="en-US" sz="1600" b="1">
              <a:solidFill>
                <a:srgbClr val="1E2761"/>
              </a:solidFill>
              <a:latin typeface="Calibri" panose="020F0502020204030204"/>
            </a:endParaRPr>
          </a:p>
          <a:p>
            <a:pPr marL="0" indent="0" algn="l">
              <a:spcAft>
                <a:spcPts val="500"/>
              </a:spcAft>
              <a:buNone/>
            </a:pPr>
            <a:endParaRPr lang="en-US" sz="1600" b="1">
              <a:solidFill>
                <a:srgbClr val="1E2761"/>
              </a:solidFill>
              <a:latin typeface="Calibri" panose="020F0502020204030204"/>
            </a:endParaRPr>
          </a:p>
          <a:p>
            <a:pPr marL="228600" indent="-228600" algn="l">
              <a:spcAft>
                <a:spcPts val="500"/>
              </a:spcAft>
              <a:buFont typeface="Arial" panose="020B0604020202020204"/>
              <a:buChar char="•"/>
            </a:pPr>
            <a:r>
              <a:rPr lang="en-US" sz="1300" b="0">
                <a:solidFill>
                  <a:srgbClr val="222222"/>
                </a:solidFill>
                <a:latin typeface="Calibri" panose="020F0502020204030204"/>
              </a:rPr>
              <a:t>The default 0.50 cut-off is rarely the best one: the best threshold is picked on validation F1 and applied once to the untouched test set.</a:t>
            </a:r>
            <a:r>
              <a:rPr lang="en-IN" altLang="en-US" sz="1300" b="0">
                <a:solidFill>
                  <a:srgbClr val="222222"/>
                </a:solidFill>
                <a:latin typeface="Calibri" panose="020F0502020204030204"/>
              </a:rPr>
              <a:t> </a:t>
            </a:r>
            <a:r>
              <a:rPr lang="en-US" sz="13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This means the tuning did not overfit to the validation set</a:t>
            </a:r>
            <a:r>
              <a:rPr lang="en-IN" altLang="en-US" sz="1300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. </a:t>
            </a:r>
            <a:endParaRPr lang="en-IN" altLang="en-US" sz="1300" dirty="0">
              <a:solidFill>
                <a:srgbClr val="2222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228600" indent="-228600" algn="l">
              <a:spcAft>
                <a:spcPts val="500"/>
              </a:spcAft>
              <a:buFont typeface="Arial" panose="020B0604020202020204"/>
              <a:buChar char="•"/>
            </a:pPr>
            <a:endParaRPr lang="en-US" sz="1300" b="0">
              <a:solidFill>
                <a:srgbClr val="222222"/>
              </a:solidFill>
              <a:latin typeface="Calibri" panose="020F0502020204030204"/>
            </a:endParaRPr>
          </a:p>
          <a:p>
            <a:pPr marL="228600" indent="-228600" algn="l">
              <a:spcAft>
                <a:spcPts val="500"/>
              </a:spcAft>
              <a:buFont typeface="Arial" panose="020B0604020202020204"/>
              <a:buChar char="•"/>
            </a:pPr>
            <a:r>
              <a:rPr lang="en-US" sz="1300" b="0">
                <a:solidFill>
                  <a:srgbClr val="222222"/>
                </a:solidFill>
                <a:latin typeface="Calibri" panose="020F0502020204030204"/>
              </a:rPr>
              <a:t>Dataset 1: Precision and F1 rise with the threshold while Recall stays high; chosen threshold 0.955 (test F1 92.4%, Recall 98.4%).</a:t>
            </a:r>
            <a:endParaRPr lang="en-US" sz="1300" b="0">
              <a:solidFill>
                <a:srgbClr val="222222"/>
              </a:solidFill>
              <a:latin typeface="Calibri" panose="020F0502020204030204"/>
            </a:endParaRPr>
          </a:p>
          <a:p>
            <a:pPr marL="228600" indent="-228600" algn="l">
              <a:spcAft>
                <a:spcPts val="500"/>
              </a:spcAft>
              <a:buFont typeface="Arial" panose="020B0604020202020204"/>
              <a:buChar char="•"/>
            </a:pPr>
            <a:endParaRPr lang="en-US" sz="1300" b="0">
              <a:solidFill>
                <a:srgbClr val="222222"/>
              </a:solidFill>
              <a:latin typeface="Calibri" panose="020F0502020204030204"/>
            </a:endParaRPr>
          </a:p>
          <a:p>
            <a:pPr marL="228600" indent="-228600" algn="l">
              <a:spcAft>
                <a:spcPts val="500"/>
              </a:spcAft>
              <a:buFont typeface="Arial" panose="020B0604020202020204"/>
              <a:buChar char="•"/>
            </a:pPr>
            <a:r>
              <a:rPr lang="en-US" sz="1300" b="0">
                <a:solidFill>
                  <a:srgbClr val="222222"/>
                </a:solidFill>
                <a:latin typeface="Calibri" panose="020F0502020204030204"/>
              </a:rPr>
              <a:t>Dataset 2: Precision rises as Recall falls; chosen threshold 0.72, where they balance (test F1 68.7%).</a:t>
            </a:r>
            <a:endParaRPr lang="en-US" sz="1300" b="0">
              <a:solidFill>
                <a:srgbClr val="222222"/>
              </a:solidFill>
              <a:latin typeface="Calibri" panose="020F0502020204030204"/>
            </a:endParaRPr>
          </a:p>
        </p:txBody>
      </p:sp>
      <p:pic>
        <p:nvPicPr>
          <p:cNvPr id="9" name="Image 0" descr="img/C9_validation_vs_test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99890"/>
            <a:ext cx="8194675" cy="25704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OF 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Evaluation: metrics and confusion matrices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model per dataset (Gradient Boosting — Dataset 1, XGBoost — Dataset 2); held-out test set, tuned threshold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7"/>
          <p:cNvSpPr/>
          <p:nvPr/>
        </p:nvSpPr>
        <p:spPr>
          <a:xfrm>
            <a:off x="11365992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akeaways bg"/>
          <p:cNvSpPr/>
          <p:nvPr/>
        </p:nvSpPr>
        <p:spPr>
          <a:xfrm>
            <a:off x="7157200" y="3640000"/>
            <a:ext cx="4574552" cy="2800000"/>
          </a:xfrm>
          <a:prstGeom prst="roundRect">
            <a:avLst>
              <a:gd name="adj" fmla="val 3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Final model = best F1 on the validation set: </a:t>
            </a:r>
            <a:r>
              <a:rPr lang="en-US" sz="1200" dirty="0">
                <a:solidFill>
                  <a:srgbClr val="222222"/>
                </a:solidFill>
                <a:highlight>
                  <a:srgbClr val="FFFF00"/>
                </a:highlight>
              </a:rPr>
              <a:t>Gradient Boosting (Dataset 1) and </a:t>
            </a:r>
            <a:r>
              <a:rPr lang="en-US" sz="1200" dirty="0" err="1">
                <a:solidFill>
                  <a:srgbClr val="222222"/>
                </a:solidFill>
                <a:highlight>
                  <a:srgbClr val="FFFF00"/>
                </a:highlight>
              </a:rPr>
              <a:t>XGBoost</a:t>
            </a:r>
            <a:r>
              <a:rPr lang="en-US" sz="1200" dirty="0">
                <a:solidFill>
                  <a:srgbClr val="222222"/>
                </a:solidFill>
                <a:highlight>
                  <a:srgbClr val="FFFF00"/>
                </a:highlight>
              </a:rPr>
              <a:t> (Dataset 2)</a:t>
            </a:r>
            <a:r>
              <a:rPr lang="en-US" sz="1200" dirty="0">
                <a:solidFill>
                  <a:srgbClr val="222222"/>
                </a:solidFill>
              </a:rPr>
              <a:t>.</a:t>
            </a:r>
            <a:endParaRPr lang="en-US" sz="1200" dirty="0">
              <a:solidFill>
                <a:srgbClr val="222222"/>
              </a:solidFill>
            </a:endParaRPr>
          </a:p>
          <a:p>
            <a:pPr indent="0">
              <a:spcAft>
                <a:spcPts val="500"/>
              </a:spcAft>
              <a:buFont typeface="Arial" panose="020B0604020202020204" pitchFamily="34" charset="0"/>
              <a:buNone/>
            </a:pPr>
            <a:endParaRPr lang="en-US" sz="1200" dirty="0">
              <a:solidFill>
                <a:srgbClr val="222222"/>
              </a:solidFill>
            </a:endParaRP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Dataset 1: Gradient Boosting identified 98.4% of buyers (3,758 of 3,819); it missed 61 buyers (FN, 1.6% of buyers) and wrongly flagged 561 non-buyers (FP, 0.6% of non-buyers).</a:t>
            </a:r>
            <a:endParaRPr lang="en-US" sz="1200" dirty="0">
              <a:solidFill>
                <a:srgbClr val="222222"/>
              </a:solidFill>
            </a:endParaRPr>
          </a:p>
          <a:p>
            <a:pPr indent="0">
              <a:spcAft>
                <a:spcPts val="500"/>
              </a:spcAft>
              <a:buFont typeface="Arial" panose="020B0604020202020204" pitchFamily="34" charset="0"/>
              <a:buNone/>
            </a:pPr>
            <a:endParaRPr lang="en-US" sz="1200" dirty="0">
              <a:solidFill>
                <a:srgbClr val="222222"/>
              </a:solidFill>
            </a:endParaRP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Dataset 2: </a:t>
            </a:r>
            <a:r>
              <a:rPr lang="en-US" sz="1200" dirty="0" err="1">
                <a:solidFill>
                  <a:srgbClr val="222222"/>
                </a:solidFill>
              </a:rPr>
              <a:t>XGBoost</a:t>
            </a:r>
            <a:r>
              <a:rPr lang="en-US" sz="1200" dirty="0">
                <a:solidFill>
                  <a:srgbClr val="222222"/>
                </a:solidFill>
              </a:rPr>
              <a:t> identified 67.5% of buyers (258 of 382); it missed 124 buyers (FN, 32.5% of buyers) and wrongly flagged 111 non-buyers (FP, 5.4% of non-buyers).</a:t>
            </a:r>
            <a:endParaRPr lang="en-US" sz="1200" dirty="0">
              <a:solidFill>
                <a:srgbClr val="222222"/>
              </a:solidFill>
            </a:endParaRPr>
          </a:p>
        </p:txBody>
      </p:sp>
      <p:pic>
        <p:nvPicPr>
          <p:cNvPr id="8" name="table"/>
          <p:cNvPicPr>
            <a:picLocks noGr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82670"/>
            <a:ext cx="11247120" cy="1680000"/>
          </a:xfrm>
          <a:prstGeom prst="rect">
            <a:avLst/>
          </a:prstGeom>
        </p:spPr>
      </p:pic>
      <p:pic>
        <p:nvPicPr>
          <p:cNvPr id="9" name="Image 209" descr="Dataset 1 confusion matri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39" y="3428999"/>
            <a:ext cx="2924665" cy="2899999"/>
          </a:xfrm>
          <a:prstGeom prst="rect">
            <a:avLst/>
          </a:prstGeom>
        </p:spPr>
      </p:pic>
      <p:pic>
        <p:nvPicPr>
          <p:cNvPr id="10" name="Image 210" descr="Dataset 2 confusion matri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140" y="3455451"/>
            <a:ext cx="2903523" cy="289999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model results, and what drove predictions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83489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Image 0" descr="img/C1_final_models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84580"/>
            <a:ext cx="7700010" cy="2496185"/>
          </a:xfrm>
          <a:prstGeom prst="rect">
            <a:avLst/>
          </a:prstGeom>
        </p:spPr>
      </p:pic>
      <p:pic>
        <p:nvPicPr>
          <p:cNvPr id="7" name="Image 1" descr="img/feature_importance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55" y="3937000"/>
            <a:ext cx="7700010" cy="26689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65992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Interpretation bg"/>
          <p:cNvSpPr/>
          <p:nvPr/>
        </p:nvSpPr>
        <p:spPr>
          <a:xfrm>
            <a:off x="8357235" y="1084580"/>
            <a:ext cx="3374390" cy="5020310"/>
          </a:xfrm>
          <a:prstGeom prst="roundRect">
            <a:avLst>
              <a:gd name="adj" fmla="val 3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nterpretation title"/>
          <p:cNvSpPr txBox="1"/>
          <p:nvPr/>
        </p:nvSpPr>
        <p:spPr>
          <a:xfrm>
            <a:off x="8507200" y="1154410"/>
            <a:ext cx="3074552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Interpretation</a:t>
            </a:r>
            <a:endParaRPr lang="en-US" sz="1350" b="1">
              <a:solidFill>
                <a:srgbClr val="1E276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Interpretation body"/>
          <p:cNvSpPr txBox="1"/>
          <p:nvPr/>
        </p:nvSpPr>
        <p:spPr>
          <a:xfrm>
            <a:off x="8507200" y="1474410"/>
            <a:ext cx="3074552" cy="38512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65100" indent="-165100">
              <a:spcAft>
                <a:spcPts val="500"/>
              </a:spcAft>
              <a:buSzPct val="100000"/>
              <a:buFont typeface="Arial" panose="020B0604020202020204"/>
              <a:buChar char="▪"/>
            </a:pPr>
            <a:r>
              <a:rPr lang="en-US" sz="1200" dirty="0">
                <a:solidFill>
                  <a:srgbClr val="222222"/>
                </a:solidFill>
                <a:highlight>
                  <a:srgbClr val="FFFF00"/>
                </a:highlight>
              </a:rPr>
              <a:t>Dataset 1 performs better than Dataset 2</a:t>
            </a:r>
            <a:r>
              <a:rPr lang="en-US" sz="1200" dirty="0">
                <a:solidFill>
                  <a:srgbClr val="222222"/>
                </a:solidFill>
              </a:rPr>
              <a:t>: F1 92.36% vs 68.71%, ROC-AUC 99.74% vs 92.82%.</a:t>
            </a:r>
            <a:endParaRPr lang="en-US" sz="1200" dirty="0">
              <a:solidFill>
                <a:srgbClr val="222222"/>
              </a:solidFill>
            </a:endParaRPr>
          </a:p>
          <a:p>
            <a:pPr marL="165100" indent="-165100">
              <a:spcAft>
                <a:spcPts val="500"/>
              </a:spcAft>
              <a:buSzPct val="100000"/>
              <a:buChar char="▪"/>
            </a:pPr>
            <a:endParaRPr lang="en-US" altLang="en-US" sz="1250" dirty="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500"/>
              </a:spcAft>
              <a:buSzPct val="100000"/>
              <a:buChar char="▪"/>
            </a:pPr>
            <a:r>
              <a:rPr lang="en-US" altLang="en-US" sz="1250" dirty="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Dataset 1: </a:t>
            </a:r>
            <a:r>
              <a:rPr lang="en-US" altLang="en-US" sz="1250" dirty="0" err="1">
                <a:solidFill>
                  <a:srgbClr val="222222"/>
                </a:solidFill>
                <a:highlight>
                  <a:srgbClr val="FFFF00"/>
                </a:highlight>
                <a:latin typeface="Calibri" panose="020F0502020204030204"/>
                <a:ea typeface="Calibri" panose="020F0502020204030204"/>
                <a:cs typeface="Calibri" panose="020F0502020204030204"/>
              </a:rPr>
              <a:t>saw_checkout</a:t>
            </a:r>
            <a:r>
              <a:rPr lang="en-US" altLang="en-US" sz="1250" dirty="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was the strongest predictor, contributing to high performance.</a:t>
            </a:r>
            <a:endParaRPr lang="en-US" altLang="en-US" sz="1250" dirty="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500"/>
              </a:spcAft>
              <a:buSzPct val="100000"/>
              <a:buChar char="▪"/>
            </a:pPr>
            <a:endParaRPr lang="en-US" altLang="en-US" sz="1250" dirty="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500"/>
              </a:spcAft>
              <a:buSzPct val="100000"/>
              <a:buChar char="▪"/>
            </a:pPr>
            <a:r>
              <a:rPr lang="en-US" altLang="en-US" sz="1250" dirty="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Dataset 2:</a:t>
            </a:r>
            <a:r>
              <a:rPr lang="en-US" altLang="en-US" sz="1250" dirty="0">
                <a:solidFill>
                  <a:srgbClr val="222222"/>
                </a:solidFill>
                <a:highlight>
                  <a:srgbClr val="FFFF00"/>
                </a:highlight>
                <a:latin typeface="Calibri" panose="020F0502020204030204"/>
                <a:ea typeface="Calibri" panose="020F0502020204030204"/>
                <a:cs typeface="Calibri" panose="020F0502020204030204"/>
              </a:rPr>
              <a:t> </a:t>
            </a:r>
            <a:r>
              <a:rPr lang="en-US" altLang="en-US" sz="1250" dirty="0" err="1">
                <a:solidFill>
                  <a:srgbClr val="222222"/>
                </a:solidFill>
                <a:highlight>
                  <a:srgbClr val="FFFF00"/>
                </a:highlight>
                <a:latin typeface="Calibri" panose="020F0502020204030204"/>
                <a:ea typeface="Calibri" panose="020F0502020204030204"/>
                <a:cs typeface="Calibri" panose="020F0502020204030204"/>
              </a:rPr>
              <a:t>PageValues</a:t>
            </a:r>
            <a:r>
              <a:rPr lang="en-US" altLang="en-US" sz="1250" dirty="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was the most influential feature, followed by </a:t>
            </a:r>
            <a:r>
              <a:rPr lang="en-US" altLang="en-US" sz="1250" dirty="0" err="1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ExitRates</a:t>
            </a:r>
            <a:r>
              <a:rPr lang="en-US" altLang="en-US" sz="1250" dirty="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and month-related features.</a:t>
            </a:r>
            <a:endParaRPr lang="en-US" altLang="en-US" sz="1250" dirty="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500"/>
              </a:spcAft>
              <a:buSzPct val="100000"/>
              <a:buChar char="▪"/>
            </a:pPr>
            <a:endParaRPr lang="en-US" altLang="en-US" sz="1250" dirty="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500"/>
              </a:spcAft>
              <a:buSzPct val="100000"/>
              <a:buChar char="▪"/>
            </a:pPr>
            <a:r>
              <a:rPr lang="en-US" altLang="en-US" sz="1250" dirty="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Key insight: Checkout and basket actions are strong purchase signals.</a:t>
            </a:r>
            <a:endParaRPr lang="en-US" altLang="en-US" sz="1250" dirty="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500"/>
              </a:spcAft>
              <a:buSzPct val="100000"/>
              <a:buChar char="▪"/>
            </a:pPr>
            <a:endParaRPr lang="en-US" altLang="en-US" sz="1250" dirty="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65100" indent="-165100">
              <a:spcAft>
                <a:spcPts val="500"/>
              </a:spcAft>
              <a:buSzPct val="100000"/>
              <a:buChar char="▪"/>
            </a:pPr>
            <a:r>
              <a:rPr lang="en-US" altLang="en-US" sz="1250" dirty="0">
                <a:solidFill>
                  <a:srgbClr val="22222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 use: Target high-intent visitors with relevant offers or reminders.</a:t>
            </a:r>
            <a:endParaRPr lang="en-US" altLang="en-US" sz="1250" dirty="0">
              <a:solidFill>
                <a:srgbClr val="22222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</p:spPr>
      </p:sp>
      <p:sp>
        <p:nvSpPr>
          <p:cNvPr id="3" name="Text 1"/>
          <p:cNvSpPr/>
          <p:nvPr/>
        </p:nvSpPr>
        <p:spPr>
          <a:xfrm>
            <a:off x="731520" y="4200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2000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3" name="Panel 230"/>
          <p:cNvSpPr/>
          <p:nvPr/>
        </p:nvSpPr>
        <p:spPr>
          <a:xfrm>
            <a:off x="792480" y="1379000"/>
            <a:ext cx="10607040" cy="4100000"/>
          </a:xfrm>
          <a:prstGeom prst="roundRect">
            <a:avLst>
              <a:gd name="adj" fmla="val 3000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</p:spPr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4" name="Text 231"/>
          <p:cNvSpPr txBox="1"/>
          <p:nvPr/>
        </p:nvSpPr>
        <p:spPr>
          <a:xfrm>
            <a:off x="1020960" y="1579000"/>
            <a:ext cx="10150000" cy="3800000"/>
          </a:xfrm>
          <a:prstGeom prst="rect">
            <a:avLst/>
          </a:prstGeom>
          <a:noFill/>
        </p:spPr>
        <p:txBody>
          <a:bodyPr wrap="square" lIns="45720" tIns="0" rIns="4572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spcAft>
                <a:spcPts val="900"/>
              </a:spcAft>
              <a:buNone/>
            </a:pPr>
            <a:r>
              <a:rPr lang="en-US" sz="1800" b="1">
                <a:solidFill>
                  <a:srgbClr val="1E2761"/>
                </a:solidFill>
                <a:latin typeface="Calibri" panose="020F0502020204030204"/>
              </a:rPr>
              <a:t>Conclusion</a:t>
            </a:r>
            <a:endParaRPr lang="en-US" sz="1800" b="1">
              <a:solidFill>
                <a:srgbClr val="1E2761"/>
              </a:solidFill>
              <a:latin typeface="Calibri" panose="020F0502020204030204"/>
            </a:endParaRPr>
          </a:p>
          <a:p>
            <a:pPr marL="228600" indent="-228600" algn="l">
              <a:spcAft>
                <a:spcPts val="900"/>
              </a:spcAft>
              <a:buFont typeface="Arial" panose="020B0604020202020204"/>
              <a:buChar char="•"/>
            </a:pPr>
            <a:r>
              <a:rPr lang="en-US" sz="1600" b="0">
                <a:solidFill>
                  <a:srgbClr val="222222"/>
                </a:solidFill>
                <a:latin typeface="Calibri" panose="020F0502020204030204"/>
              </a:rPr>
              <a:t>Final models: Gradient Boosting on Dataset 1 (F1 92.4%, ROC-AUC 99.7%) and XGBoost on Dataset 2 (F1 68.7%, ROC-AUC 92.8%).</a:t>
            </a:r>
            <a:endParaRPr lang="en-US" sz="1600" b="0">
              <a:solidFill>
                <a:srgbClr val="222222"/>
              </a:solidFill>
              <a:latin typeface="Calibri" panose="020F0502020204030204"/>
            </a:endParaRPr>
          </a:p>
          <a:p>
            <a:pPr marL="228600" indent="-228600" algn="l">
              <a:spcAft>
                <a:spcPts val="900"/>
              </a:spcAft>
              <a:buFont typeface="Arial" panose="020B0604020202020204"/>
              <a:buChar char="•"/>
            </a:pPr>
            <a:r>
              <a:rPr lang="en-US" sz="1600" b="0">
                <a:solidFill>
                  <a:srgbClr val="222222"/>
                </a:solidFill>
                <a:latin typeface="Calibri" panose="020F0502020204030204"/>
              </a:rPr>
              <a:t>One pipeline (cleaning, feature engineering, class weights, tuning, threshold selection) worked on two very different datasets.</a:t>
            </a:r>
            <a:endParaRPr lang="en-US" sz="1600" b="0">
              <a:solidFill>
                <a:srgbClr val="222222"/>
              </a:solidFill>
              <a:latin typeface="Calibri" panose="020F0502020204030204"/>
            </a:endParaRPr>
          </a:p>
          <a:p>
            <a:pPr marL="228600" indent="-228600" algn="l">
              <a:spcAft>
                <a:spcPts val="900"/>
              </a:spcAft>
              <a:buFont typeface="Arial" panose="020B0604020202020204"/>
              <a:buChar char="•"/>
            </a:pPr>
            <a:r>
              <a:rPr lang="en-US" sz="1600" b="0">
                <a:solidFill>
                  <a:srgbClr val="222222"/>
                </a:solidFill>
                <a:latin typeface="Calibri" panose="020F0502020204030204"/>
              </a:rPr>
              <a:t>Checkout and basket-stage actions are the strongest purchase signal: the clearest, most actionable finding.</a:t>
            </a:r>
            <a:endParaRPr lang="en-US" sz="1600" b="0">
              <a:solidFill>
                <a:srgbClr val="222222"/>
              </a:solidFill>
              <a:latin typeface="Calibri" panose="020F0502020204030204"/>
            </a:endParaRPr>
          </a:p>
          <a:p>
            <a:pPr marL="228600" indent="-228600" algn="l">
              <a:spcAft>
                <a:spcPts val="900"/>
              </a:spcAft>
              <a:buFont typeface="Arial" panose="020B0604020202020204"/>
              <a:buChar char="•"/>
            </a:pPr>
            <a:r>
              <a:rPr lang="en-US" sz="1600" b="0">
                <a:solidFill>
                  <a:srgbClr val="222222"/>
                </a:solidFill>
                <a:latin typeface="Calibri" panose="020F0502020204030204"/>
              </a:rPr>
              <a:t>Model quality still depends on how much data is available and how separable the classes are.</a:t>
            </a:r>
            <a:endParaRPr lang="en-US" sz="1600" b="0">
              <a:solidFill>
                <a:srgbClr val="222222"/>
              </a:solidFill>
              <a:latin typeface="Calibri" panose="020F0502020204030204"/>
            </a:endParaRPr>
          </a:p>
          <a:p>
            <a:pPr marL="228600" indent="-228600" algn="l">
              <a:spcAft>
                <a:spcPts val="900"/>
              </a:spcAft>
              <a:buFont typeface="Arial" panose="020B0604020202020204"/>
              <a:buChar char="•"/>
            </a:pPr>
            <a:r>
              <a:rPr lang="en-US" sz="1600" b="0">
                <a:solidFill>
                  <a:srgbClr val="222222"/>
                </a:solidFill>
                <a:latin typeface="Calibri" panose="020F0502020204030204"/>
              </a:rPr>
              <a:t>Practical use: score live sessions and trigger nudges for high-intent visitors.</a:t>
            </a:r>
            <a:endParaRPr lang="en-US" sz="1600" b="0">
              <a:solidFill>
                <a:srgbClr val="22222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7117</Words>
  <Application>WPS Presentation</Application>
  <PresentationFormat>Widescreen</PresentationFormat>
  <Paragraphs>296</Paragraphs>
  <Slides>12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mahek</cp:lastModifiedBy>
  <cp:revision>19</cp:revision>
  <dcterms:created xsi:type="dcterms:W3CDTF">2026-10-15T10:40:00Z</dcterms:created>
  <dcterms:modified xsi:type="dcterms:W3CDTF">2026-10-22T06:23:57Z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A9792EDD22514744A58A5D50F6F2D48F_12</vt:lpwstr>
  </property>
  <property fmtid="{D5CDD505-2E9C-101B-9397-08002B2CF9AE}" pid="3" name="KSOProductBuildVer">
    <vt:lpwstr>1033-12.1.0.29162</vt:lpwstr>
  </property>
</Properties>
</file>